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341" r:id="rId3"/>
    <p:sldId id="307" r:id="rId4"/>
    <p:sldId id="420" r:id="rId5"/>
    <p:sldId id="421" r:id="rId6"/>
    <p:sldId id="422" r:id="rId7"/>
    <p:sldId id="423" r:id="rId8"/>
    <p:sldId id="419" r:id="rId9"/>
    <p:sldId id="425" r:id="rId10"/>
    <p:sldId id="424" r:id="rId11"/>
    <p:sldId id="426" r:id="rId12"/>
    <p:sldId id="342" r:id="rId13"/>
    <p:sldId id="428" r:id="rId14"/>
    <p:sldId id="430" r:id="rId15"/>
    <p:sldId id="429" r:id="rId16"/>
    <p:sldId id="432" r:id="rId17"/>
    <p:sldId id="435" r:id="rId18"/>
    <p:sldId id="431" r:id="rId19"/>
    <p:sldId id="433" r:id="rId20"/>
    <p:sldId id="434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99"/>
    <p:restoredTop sz="94150"/>
  </p:normalViewPr>
  <p:slideViewPr>
    <p:cSldViewPr snapToGrid="0">
      <p:cViewPr varScale="1">
        <p:scale>
          <a:sx n="120" d="100"/>
          <a:sy n="120" d="100"/>
        </p:scale>
        <p:origin x="7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000FC-BFFA-8A4B-B978-A54540EDB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15008-5B5E-ACE0-5453-2A3614E0E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EDD9CA-1415-9862-8E1D-A8E46DE2F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E85BA-7773-F0A4-5EB8-C8D6726392C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8880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75956-F491-3DCE-0EAA-F8974643E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58EEAA-7EE2-3266-6D12-E4B6727F5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FED2BE-66B5-1385-A35A-301249F6E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40CE6-0D8D-3E20-5CE6-6C41BB52996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2366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561F5-A302-D3C0-5033-DEC02701F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A0F05A-4371-8234-8750-B8C7B5440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19923C-8211-DD63-78DB-C6B5B1954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F97BF-A8A5-4396-ABBC-8A41AC92D55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2455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5238D-11B2-C385-F530-72EE56D2B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5BF4C9-5361-5909-8F90-8A92DEA6FC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BA719-A9A1-224A-8E72-9DC237557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D965D-3F9E-27DD-8A07-2666A99E420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6806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05C3C-2DA8-14BF-3CC6-E821606D3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B2B1D3-D3A1-5768-B119-F277FAC127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DD74B2-FEFB-FA35-ADF9-82A4ABB0F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79566-BE48-CB3A-CC90-41B9264105D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238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96F39-310B-E716-FDCE-7E0BACCA7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F1365-1EE9-C70F-1159-1D530D8366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87D3F-3342-EA20-850A-DE5964927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708AA-4515-E183-D593-AD106BBF5DD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5156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425B5-0E07-A31B-90CE-78BB4D42B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B6A70C-9604-E785-1161-453F5214A5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0813E8-3996-BEF2-EAC9-C10FBE7BF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C5E6C-E22F-1CED-A7B0-D15FA3AC385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45480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848C6-DB69-F2BA-E3DB-89A78B69F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045FF0-469B-301F-CE32-A1CE34D9F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7F9930-A0D4-7548-8259-EC9EBE3B6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1532E-802C-2C1B-F0DD-2558A9CD54C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21331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5A390-72F1-28BF-4865-3C2FF95E3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28124F-9C38-AACE-2ABC-2C2DBF07A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ACE5C-421E-F996-9732-8B50DEE36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B9BB1-B8C0-089B-6CC5-5D675672A01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9421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D8D52-D835-7AE5-A501-FF9AD91AE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05F2B5-9974-9327-E790-1C6962082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A15881-D320-0500-E386-E1E18BE8B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50047-A706-4627-37BC-63E337AC1FC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51824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F3B9E-C689-0012-56F7-4D8488F26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3D0FB7-AEEF-BFA7-56E6-FF12A60C5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A5C08-0A16-1B84-5B38-8434BECA5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CF97F-48B7-9A42-68A5-B6792A72A78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87137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DC2E2-9EC3-172D-75D4-B91AC80AF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0F34EF-DAB5-D6AF-2236-A3AE4E1A5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919AC5-72F2-B015-30DB-F60D63033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4244D-0BEE-1A58-2DF3-6B05CED58CD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49287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0B28F-B766-2F2D-D656-5B5785765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00A1F9-0BDC-3129-2A64-11C309C98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63DA36-FC3F-4909-EAE2-BB7140678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6A237-6344-C637-3D1C-F3A46348C21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5714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618AD-9D7D-679B-A706-CD6830504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FA280E-6934-F523-1AFF-6CA0FA2C4B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DA8D86-5D21-C564-DAED-86031490A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A7CF3-323B-891A-D72C-4907E1A340E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88721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2259E-F431-B497-3313-5B1A1E7F0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090EA5-13D6-7792-871F-AB22B7A32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84BFBD-F5B8-9EF5-A5C8-E47EDB212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97A45-8729-7C8A-3D21-225918FD164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79255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52B75-7013-4B7A-493A-98B9E018B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F4DC3A-CAF1-C9F4-E3D0-9FF671AA5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59ECF-2596-5D55-7A10-8A598B3B0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2954A-7540-60D9-8263-C5CBCBC1A5C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64724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76B31-2A45-0EE2-581E-FA0809FD0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A89204-3BB4-3950-5499-BC6459916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AEFB6-98FE-859D-F882-A5B62AFB5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480F0-FD25-C8CA-6496-F1A6D72F78A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2054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2FA35-0E1A-EE57-97E5-B0EBA2354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111FF9-9FAD-3A04-B5D0-7DBACFD63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23AD24-0596-50C0-6751-E549DDE99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E395C-D184-A3D6-E91A-A23F9FD53D7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76930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AEF69-6403-3E50-0436-B9D595FB0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79751B-11DF-7C27-4B85-1C9AB8A59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263FEA-BC16-82EF-13C5-E05995A73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50777-82A9-CD52-5BB2-11CA261BE08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9240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AD41A917-7ABC-4508-ADF6-01E19E7390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677B8"/>
          </a:solidFill>
          <a:ln w="9525">
            <a:solidFill>
              <a:srgbClr val="1677B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A2253D-0296-419F-8215-601951CE8AF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5725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350" b="1">
                <a:solidFill>
                  <a:srgbClr val="102A43"/>
                </a:solidFill>
              </a:defRPr>
            </a:pPr>
            <a:r>
              <a:rPr lang="en-US" sz="4350" b="1" dirty="0">
                <a:solidFill>
                  <a:srgbClr val="102A43"/>
                </a:solidFill>
              </a:rPr>
              <a:t>C#</a:t>
            </a:r>
            <a:r>
              <a:rPr lang="ko-KR" altLang="en-US" sz="4350" b="1" dirty="0" err="1">
                <a:solidFill>
                  <a:srgbClr val="102A43"/>
                </a:solidFill>
              </a:rPr>
              <a:t>으로</a:t>
            </a:r>
            <a:r>
              <a:rPr lang="ko-KR" altLang="en-US" sz="4350" b="1" dirty="0">
                <a:solidFill>
                  <a:srgbClr val="102A43"/>
                </a:solidFill>
              </a:rPr>
              <a:t> 만드는 </a:t>
            </a:r>
            <a:r>
              <a:rPr lang="en-US" altLang="ko-KR" sz="4350" b="1" dirty="0">
                <a:solidFill>
                  <a:srgbClr val="102A43"/>
                </a:solidFill>
              </a:rPr>
              <a:t>SQL Program#1</a:t>
            </a:r>
            <a:r>
              <a:rPr lang="ko-KR" altLang="en-US" sz="4350" b="1" dirty="0">
                <a:solidFill>
                  <a:srgbClr val="102A43"/>
                </a:solidFill>
              </a:rPr>
              <a:t> </a:t>
            </a:r>
            <a:endParaRPr sz="4350" b="1" dirty="0">
              <a:solidFill>
                <a:srgbClr val="102A43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17DC963-FD11-4942-9010-349AB496553A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10820400" cy="1066800"/>
          </a:xfrm>
          <a:prstGeom prst="rect">
            <a:avLst/>
          </a:prstGeom>
          <a:solidFill>
            <a:srgbClr val="0B3C5D"/>
          </a:solidFill>
          <a:ln w="9525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ko-KR" altLang="en-US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3A600-E48A-A4D8-3ACD-DC32A6ED3CE7}"/>
              </a:ext>
            </a:extLst>
          </p:cNvPr>
          <p:cNvSpPr txBox="1"/>
          <p:nvPr/>
        </p:nvSpPr>
        <p:spPr>
          <a:xfrm>
            <a:off x="9858522" y="4863584"/>
            <a:ext cx="15843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강사 </a:t>
            </a:r>
            <a:r>
              <a:rPr lang="en-US" altLang="ko-KR" sz="1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18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홍상민</a:t>
            </a:r>
            <a:endParaRPr lang="ko-KR" altLang="en-US" sz="1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AE691B-86A5-5AF2-FB21-EE1158026E15}"/>
              </a:ext>
            </a:extLst>
          </p:cNvPr>
          <p:cNvSpPr txBox="1"/>
          <p:nvPr/>
        </p:nvSpPr>
        <p:spPr>
          <a:xfrm>
            <a:off x="765314" y="2697682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https</a:t>
            </a:r>
            <a:r>
              <a:rPr lang="ko-KR" altLang="en-US" dirty="0"/>
              <a:t>://</a:t>
            </a:r>
            <a:r>
              <a:rPr lang="ko-KR" altLang="en-US" dirty="0" err="1"/>
              <a:t>github.com</a:t>
            </a:r>
            <a:r>
              <a:rPr lang="ko-KR" altLang="en-US" dirty="0"/>
              <a:t>/</a:t>
            </a:r>
            <a:r>
              <a:rPr lang="ko-KR" altLang="en-US" dirty="0" err="1"/>
              <a:t>smhongDev</a:t>
            </a:r>
            <a:r>
              <a:rPr lang="ko-KR" altLang="en-US" dirty="0"/>
              <a:t>/</a:t>
            </a:r>
            <a:r>
              <a:rPr lang="ko-KR" altLang="en-US" dirty="0" err="1"/>
              <a:t>MySQL-Examples.git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1721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2E5A0-10E2-A09C-51D5-5CF41692B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F12C5E9F-DE3C-B30E-AFCD-D34326DE88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677B8"/>
          </a:solidFill>
          <a:ln w="9525">
            <a:solidFill>
              <a:srgbClr val="1677B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A6A62C2-14BA-8097-F1F9-DCD7E1EDD87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5725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900" b="1">
                <a:solidFill>
                  <a:srgbClr val="FFFFFF"/>
                </a:solidFill>
              </a:defRPr>
            </a:pPr>
            <a:r>
              <a:rPr lang="en-US" altLang="ko-KR" sz="4400" b="1" dirty="0">
                <a:solidFill>
                  <a:schemeClr val="accent1"/>
                </a:solidFill>
              </a:rPr>
              <a:t>C#</a:t>
            </a:r>
            <a:r>
              <a:rPr lang="ko-KR" altLang="en-US" sz="4400" b="1" dirty="0">
                <a:solidFill>
                  <a:schemeClr val="accent1"/>
                </a:solidFill>
              </a:rPr>
              <a:t> 프로젝트 만들기</a:t>
            </a:r>
          </a:p>
        </p:txBody>
      </p:sp>
    </p:spTree>
    <p:extLst>
      <p:ext uri="{BB962C8B-B14F-4D97-AF65-F5344CB8AC3E}">
        <p14:creationId xmlns:p14="http://schemas.microsoft.com/office/powerpoint/2010/main" val="3883216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BD8C4-11FB-98D9-B4B2-A5908E16B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9DF010A1-E77C-2A3A-A8D2-3EFE49D90FAA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677B8"/>
                </a:solidFill>
              </a:defRPr>
            </a:pPr>
            <a:r>
              <a:rPr sz="1200" b="1" dirty="0">
                <a:solidFill>
                  <a:srgbClr val="1677B8"/>
                </a:solidFill>
              </a:rPr>
              <a:t>C# × MySQL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0FDFD4F-A0E6-E87F-F96C-7BAC7EC63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0" y="693518"/>
            <a:ext cx="4563472" cy="295704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BDF3177-1CF5-4108-8A9D-C8DF841479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340" y="1761295"/>
            <a:ext cx="4848838" cy="312722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B7C0FCC-0418-E237-5817-B81DC3B340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7100" y="1761295"/>
            <a:ext cx="5664200" cy="364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227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0B646-1DDD-EF73-233C-C0773B840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E2C3B4DB-9214-C901-B0A2-235247E0476B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677B8"/>
                </a:solidFill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1677B8"/>
                </a:solidFill>
                <a:effectLst/>
                <a:uLnTx/>
                <a:uFillTx/>
                <a:latin typeface="Calibri"/>
                <a:cs typeface="Calibri"/>
              </a:rPr>
              <a:t>C# × MySQL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AB5ECD4-0943-387A-D05A-763317963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73" y="770688"/>
            <a:ext cx="4126405" cy="265831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E03E78C-9DC3-D57C-4627-015AF916A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809" y="1805726"/>
            <a:ext cx="7772400" cy="27131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1143769-272B-91D1-4E21-C37793759E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6990" y="3254946"/>
            <a:ext cx="4946043" cy="331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591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7C5FA-AD57-9D8B-D396-0A736450C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FB5767B7-8C58-5BA3-E916-2D1D691E20EF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677B8"/>
                </a:solidFill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1677B8"/>
                </a:solidFill>
                <a:effectLst/>
                <a:uLnTx/>
                <a:uFillTx/>
                <a:latin typeface="Calibri"/>
                <a:cs typeface="Calibri"/>
              </a:rPr>
              <a:t>C# × MySQL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F6A59D7-1222-E060-CA0D-18C6032DF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11139"/>
            <a:ext cx="5262352" cy="212773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28379C1-8476-228B-227C-08AF0C7E8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5264" y="2760687"/>
            <a:ext cx="8164886" cy="361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595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CF839-FC81-DD05-39F1-1B783E7A6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6A2983D1-D4A8-77FF-14E5-F2D5A50AD568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677B8"/>
                </a:solidFill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1677B8"/>
                </a:solidFill>
                <a:effectLst/>
                <a:uLnTx/>
                <a:uFillTx/>
                <a:latin typeface="Calibri"/>
                <a:cs typeface="Calibri"/>
              </a:rPr>
              <a:t>C# × MySQL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40B125-2EBB-AE55-5C9C-8D85D773B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28" y="607108"/>
            <a:ext cx="3014025" cy="305752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F093F8D-B385-1A2A-5907-E5F90FF77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2642" y="607108"/>
            <a:ext cx="3029730" cy="305752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37355B3-13B6-B42B-5860-F68CF667FE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2372" y="607108"/>
            <a:ext cx="3632200" cy="13716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1EF3F6E-60EB-B197-8AA6-D226F0CC78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8452" y="1408086"/>
            <a:ext cx="3367403" cy="416271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E23BCD6-C9AB-7C53-E49F-F757F0D962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4899" y="4945135"/>
            <a:ext cx="3922202" cy="103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498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485DA-189A-BE68-33B9-90E3062B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42EFDAB0-AC6D-7925-723A-A167E3AF82D8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677B8"/>
                </a:solidFill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1677B8"/>
                </a:solidFill>
                <a:effectLst/>
                <a:uLnTx/>
                <a:uFillTx/>
                <a:latin typeface="Calibri"/>
                <a:cs typeface="Calibri"/>
              </a:rPr>
              <a:t>C# × MySQL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0C1FF89-710A-2861-9B8B-7624C126B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142" y="785544"/>
            <a:ext cx="2844800" cy="48895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A1E7F73-4963-5F43-3B65-6B982D50B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904" y="785544"/>
            <a:ext cx="2737585" cy="466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055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4D42C-6F99-4B62-0B9F-B089554C3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E33D7434-9846-C82C-2616-BA9FE35BC3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677B8"/>
          </a:solidFill>
          <a:ln w="9525">
            <a:solidFill>
              <a:srgbClr val="1677B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3DD6B93-0F16-ACBC-1C07-8FB093EFD52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5725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900" b="1">
                <a:solidFill>
                  <a:srgbClr val="FFFFFF"/>
                </a:solidFill>
              </a:defRPr>
            </a:pPr>
            <a:r>
              <a:rPr lang="en-US" altLang="ko-KR" sz="4400" b="1" dirty="0">
                <a:solidFill>
                  <a:schemeClr val="accent1"/>
                </a:solidFill>
              </a:rPr>
              <a:t>DB Table </a:t>
            </a:r>
            <a:r>
              <a:rPr lang="ko-KR" altLang="en-US" sz="4400" b="1" dirty="0">
                <a:solidFill>
                  <a:schemeClr val="accent1"/>
                </a:solidFill>
              </a:rPr>
              <a:t>만들기</a:t>
            </a:r>
          </a:p>
        </p:txBody>
      </p:sp>
    </p:spTree>
    <p:extLst>
      <p:ext uri="{BB962C8B-B14F-4D97-AF65-F5344CB8AC3E}">
        <p14:creationId xmlns:p14="http://schemas.microsoft.com/office/powerpoint/2010/main" val="3199496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B4C15-1806-3F7A-517A-53C292AF6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E02D6880-FB30-E39C-403E-69F52492084D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677B8"/>
                </a:solidFill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1677B8"/>
                </a:solidFill>
                <a:effectLst/>
                <a:uLnTx/>
                <a:uFillTx/>
                <a:latin typeface="Calibri"/>
                <a:cs typeface="Calibri"/>
              </a:rPr>
              <a:t>C# × MySQL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3A90242-C582-FBA3-AA57-4D480A6D3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01858"/>
            <a:ext cx="2604898" cy="470476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AB4FF5D-C919-CF5F-05F9-D989B5F11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1407" y="1423572"/>
            <a:ext cx="5041900" cy="4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798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4093F-08A5-8716-5C2C-865D30A40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4A81A54-EB8D-AACB-060E-A72141AD158E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677B8"/>
                </a:solidFill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1677B8"/>
                </a:solidFill>
                <a:effectLst/>
                <a:uLnTx/>
                <a:uFillTx/>
                <a:latin typeface="Calibri"/>
                <a:cs typeface="Calibri"/>
              </a:rPr>
              <a:t>C# × MySQL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7985BF7-48A0-95C3-88AA-0F70AF1EA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81" y="657468"/>
            <a:ext cx="3954178" cy="181141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3B6C6FB-037C-93F4-BBA6-E4142A3944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359" y="177018"/>
            <a:ext cx="5984158" cy="315277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FE0E1E3-D4BA-E464-7286-8340482F2F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2244" y="3601713"/>
            <a:ext cx="7772400" cy="287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403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36D87-AB36-56B8-320C-73D24B53E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F5516B45-79AF-6AC4-79C7-FF31A27CA8B9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677B8"/>
                </a:solidFill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1677B8"/>
                </a:solidFill>
                <a:effectLst/>
                <a:uLnTx/>
                <a:uFillTx/>
                <a:latin typeface="Calibri"/>
                <a:cs typeface="Calibri"/>
              </a:rPr>
              <a:t>C# × MySQL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8C73950-08E5-A9A3-EF61-C9D910DDF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48" y="879914"/>
            <a:ext cx="6381261" cy="480222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C3FE8C3-CDB2-9110-B092-A5094A96D0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2699" y="1779563"/>
            <a:ext cx="4114955" cy="269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090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7570F-C9B5-6C18-0460-31D65CF77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2590A73F-D491-139A-7275-9FBDDED4F9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677B8"/>
          </a:solidFill>
          <a:ln w="9525">
            <a:solidFill>
              <a:srgbClr val="1677B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31ABE6-B9FB-BCB8-5806-81D3C4900F10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5725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900" b="1">
                <a:solidFill>
                  <a:srgbClr val="FFFFFF"/>
                </a:solidFill>
              </a:defRPr>
            </a:pPr>
            <a:r>
              <a:rPr lang="en-US" altLang="ko-KR" sz="4400" b="1" dirty="0">
                <a:solidFill>
                  <a:schemeClr val="accent1"/>
                </a:solidFill>
              </a:rPr>
              <a:t>C# SQL</a:t>
            </a:r>
            <a:r>
              <a:rPr lang="ko-KR" altLang="en-US" sz="4400" b="1" dirty="0">
                <a:solidFill>
                  <a:schemeClr val="accent1"/>
                </a:solidFill>
              </a:rPr>
              <a:t> 프로그래밍</a:t>
            </a:r>
            <a:r>
              <a:rPr lang="en-US" altLang="ko-KR" sz="4400" b="1" dirty="0">
                <a:solidFill>
                  <a:schemeClr val="accent1"/>
                </a:solidFill>
              </a:rPr>
              <a:t> #1</a:t>
            </a:r>
            <a:endParaRPr lang="ko-KR" altLang="en-US" sz="4400"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6DAC59-9194-FE72-A022-C89A70D99AAB}"/>
              </a:ext>
            </a:extLst>
          </p:cNvPr>
          <p:cNvSpPr txBox="1"/>
          <p:nvPr/>
        </p:nvSpPr>
        <p:spPr>
          <a:xfrm>
            <a:off x="685800" y="2731756"/>
            <a:ext cx="6103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https://</a:t>
            </a:r>
            <a:r>
              <a:rPr lang="en" altLang="ko-KR" dirty="0" err="1"/>
              <a:t>github.com</a:t>
            </a:r>
            <a:r>
              <a:rPr lang="en" altLang="ko-KR" dirty="0"/>
              <a:t>/</a:t>
            </a:r>
            <a:r>
              <a:rPr lang="en" altLang="ko-KR" dirty="0" err="1"/>
              <a:t>smhongDev</a:t>
            </a:r>
            <a:r>
              <a:rPr lang="en" altLang="ko-KR" dirty="0"/>
              <a:t>/MySQL-</a:t>
            </a:r>
            <a:r>
              <a:rPr lang="en" altLang="ko-KR" dirty="0" err="1"/>
              <a:t>Examples.git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7271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05678-A551-9D05-21B3-0BD9B4967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54483FF8-4C22-6921-A676-7F2957495EA1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677B8"/>
                </a:solidFill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1677B8"/>
                </a:solidFill>
                <a:effectLst/>
                <a:uLnTx/>
                <a:uFillTx/>
                <a:latin typeface="Calibri"/>
                <a:cs typeface="Calibri"/>
              </a:rPr>
              <a:t>C# × MySQL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405CE5-452A-7D96-8E57-BC11ABD8D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343" y="594178"/>
            <a:ext cx="4031343" cy="6197118"/>
          </a:xfrm>
          <a:prstGeom prst="rect">
            <a:avLst/>
          </a:prstGeom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5342C06A-5E4A-C926-CCEB-9D8E7AA6F3C1}"/>
              </a:ext>
            </a:extLst>
          </p:cNvPr>
          <p:cNvSpPr/>
          <p:nvPr/>
        </p:nvSpPr>
        <p:spPr>
          <a:xfrm>
            <a:off x="5638800" y="718456"/>
            <a:ext cx="6112037" cy="1328393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kumimoji="1" lang="en-US" altLang="ko-KR" dirty="0"/>
              <a:t>Control Name / </a:t>
            </a:r>
            <a:r>
              <a:rPr kumimoji="1" lang="ko-KR" altLang="en-US" dirty="0" err="1"/>
              <a:t>변수명</a:t>
            </a:r>
            <a:r>
              <a:rPr kumimoji="1" lang="ko-KR" altLang="en-US" dirty="0"/>
              <a:t> 등은 각자 변경 가능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단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textbox1, textbox2 </a:t>
            </a:r>
            <a:r>
              <a:rPr kumimoji="1" lang="ko-KR" altLang="en-US" dirty="0"/>
              <a:t> 이런 방식은 사용 불가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52734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EE64A-9B18-9754-DB3E-A3F9DCE31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AF1A16FC-85C3-01B9-BE46-BE13C2546130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677B8"/>
                </a:solidFill>
              </a:defRPr>
            </a:pPr>
            <a:r>
              <a:rPr sz="1200" b="1" dirty="0">
                <a:solidFill>
                  <a:srgbClr val="1677B8"/>
                </a:solidFill>
              </a:rPr>
              <a:t>C# × MySQL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A6F7DA2-5B45-65F4-3B80-AA2C68CFA4DD}"/>
              </a:ext>
            </a:extLst>
          </p:cNvPr>
          <p:cNvSpPr>
            <a:spLocks noGrp="1"/>
          </p:cNvSpPr>
          <p:nvPr/>
        </p:nvSpPr>
        <p:spPr>
          <a:xfrm>
            <a:off x="685800" y="63996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02A43"/>
                </a:solidFill>
              </a:defRPr>
            </a:pPr>
            <a:r>
              <a:rPr lang="en-US" sz="2850" b="1" dirty="0" err="1">
                <a:solidFill>
                  <a:srgbClr val="102A43"/>
                </a:solidFill>
              </a:rPr>
              <a:t>frmMain.cs</a:t>
            </a:r>
            <a:endParaRPr sz="2850" b="1" dirty="0">
              <a:solidFill>
                <a:srgbClr val="102A43"/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0950636-6FEF-5841-39DA-C5D6F7248F44}"/>
              </a:ext>
            </a:extLst>
          </p:cNvPr>
          <p:cNvGrpSpPr/>
          <p:nvPr/>
        </p:nvGrpSpPr>
        <p:grpSpPr>
          <a:xfrm>
            <a:off x="448887" y="1230285"/>
            <a:ext cx="11247119" cy="5380066"/>
            <a:chOff x="448888" y="1450439"/>
            <a:chExt cx="11130742" cy="2813991"/>
          </a:xfrm>
        </p:grpSpPr>
        <p:sp>
          <p:nvSpPr>
            <p:cNvPr id="3" name="모서리가 둥근 직사각형 2">
              <a:extLst>
                <a:ext uri="{FF2B5EF4-FFF2-40B4-BE49-F238E27FC236}">
                  <a16:creationId xmlns:a16="http://schemas.microsoft.com/office/drawing/2014/main" id="{0BA2730A-41EE-77E5-1A96-9D7F600779B0}"/>
                </a:ext>
              </a:extLst>
            </p:cNvPr>
            <p:cNvSpPr/>
            <p:nvPr/>
          </p:nvSpPr>
          <p:spPr>
            <a:xfrm>
              <a:off x="448888" y="1564405"/>
              <a:ext cx="11130742" cy="2700025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E6DF2125-F370-DA31-68BB-2AA3F8BE2CF8}"/>
                </a:ext>
              </a:extLst>
            </p:cNvPr>
            <p:cNvSpPr/>
            <p:nvPr/>
          </p:nvSpPr>
          <p:spPr>
            <a:xfrm>
              <a:off x="806335" y="1450439"/>
              <a:ext cx="2136370" cy="314784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dirty="0"/>
                <a:t>실습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C7FBFCD-5894-1076-DD20-F9DADB7F7520}"/>
              </a:ext>
            </a:extLst>
          </p:cNvPr>
          <p:cNvSpPr txBox="1"/>
          <p:nvPr/>
        </p:nvSpPr>
        <p:spPr>
          <a:xfrm>
            <a:off x="967392" y="2119615"/>
            <a:ext cx="1021010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MySQL</a:t>
            </a:r>
            <a:r>
              <a:rPr lang="ko-KR" altLang="en-US" dirty="0"/>
              <a:t>과의 연결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CRUD</a:t>
            </a:r>
            <a:r>
              <a:rPr lang="ko-KR" altLang="en-US" dirty="0"/>
              <a:t>의 기능을 어떻게 구현하는지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Read</a:t>
            </a:r>
            <a:r>
              <a:rPr lang="ko-KR" altLang="en-US" dirty="0"/>
              <a:t>한 </a:t>
            </a:r>
            <a:r>
              <a:rPr lang="en-US" altLang="ko-KR" dirty="0"/>
              <a:t>DB</a:t>
            </a:r>
            <a:r>
              <a:rPr lang="ko-KR" altLang="en-US" dirty="0"/>
              <a:t>와 </a:t>
            </a:r>
            <a:r>
              <a:rPr lang="en-US" altLang="ko-KR" dirty="0"/>
              <a:t>UI</a:t>
            </a:r>
            <a:r>
              <a:rPr lang="ko-KR" altLang="en-US" dirty="0"/>
              <a:t>에서 표시하는 방법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ko-KR" altLang="en-US" dirty="0"/>
              <a:t>* </a:t>
            </a:r>
            <a:r>
              <a:rPr lang="en-US" altLang="ko-KR" dirty="0"/>
              <a:t>DB</a:t>
            </a:r>
            <a:r>
              <a:rPr lang="ko-KR" altLang="en-US" dirty="0"/>
              <a:t> 구현에 초점이 있으며</a:t>
            </a:r>
            <a:r>
              <a:rPr lang="en-US" altLang="ko-KR" dirty="0"/>
              <a:t>,</a:t>
            </a:r>
            <a:r>
              <a:rPr lang="ko-KR" altLang="en-US" dirty="0"/>
              <a:t> 소스코드의 최적화와 </a:t>
            </a:r>
            <a:r>
              <a:rPr lang="ko-KR" altLang="en-US" dirty="0" err="1"/>
              <a:t>리팩토링은</a:t>
            </a:r>
            <a:r>
              <a:rPr lang="ko-KR" altLang="en-US" dirty="0"/>
              <a:t> 고려하지 않았습니다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88039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F7CC8-B9C7-3F83-756B-89026F416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AD2401A5-34B5-2859-317C-EE6C76F8834F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677B8"/>
                </a:solidFill>
              </a:defRPr>
            </a:pPr>
            <a:r>
              <a:rPr sz="1200" b="1" dirty="0">
                <a:solidFill>
                  <a:srgbClr val="1677B8"/>
                </a:solidFill>
              </a:rPr>
              <a:t>C# × MySQL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02AE0B1-A7CC-BED2-8971-49B1EE8A5620}"/>
              </a:ext>
            </a:extLst>
          </p:cNvPr>
          <p:cNvSpPr>
            <a:spLocks noGrp="1"/>
          </p:cNvSpPr>
          <p:nvPr/>
        </p:nvSpPr>
        <p:spPr>
          <a:xfrm>
            <a:off x="685800" y="63996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02A43"/>
                </a:solidFill>
              </a:defRPr>
            </a:pPr>
            <a:r>
              <a:rPr lang="en-US" sz="2850" b="1" dirty="0" err="1">
                <a:solidFill>
                  <a:srgbClr val="102A43"/>
                </a:solidFill>
              </a:rPr>
              <a:t>frmMain.cs</a:t>
            </a:r>
            <a:endParaRPr sz="2850" b="1" dirty="0">
              <a:solidFill>
                <a:srgbClr val="102A43"/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D750048-698F-8097-898F-1E184298E444}"/>
              </a:ext>
            </a:extLst>
          </p:cNvPr>
          <p:cNvGrpSpPr/>
          <p:nvPr/>
        </p:nvGrpSpPr>
        <p:grpSpPr>
          <a:xfrm>
            <a:off x="448887" y="1230285"/>
            <a:ext cx="11247119" cy="5380066"/>
            <a:chOff x="448888" y="1450439"/>
            <a:chExt cx="11130742" cy="2813991"/>
          </a:xfrm>
        </p:grpSpPr>
        <p:sp>
          <p:nvSpPr>
            <p:cNvPr id="3" name="모서리가 둥근 직사각형 2">
              <a:extLst>
                <a:ext uri="{FF2B5EF4-FFF2-40B4-BE49-F238E27FC236}">
                  <a16:creationId xmlns:a16="http://schemas.microsoft.com/office/drawing/2014/main" id="{1A3B998B-5682-6FB7-1648-110F4FC0B63C}"/>
                </a:ext>
              </a:extLst>
            </p:cNvPr>
            <p:cNvSpPr/>
            <p:nvPr/>
          </p:nvSpPr>
          <p:spPr>
            <a:xfrm>
              <a:off x="448888" y="1564405"/>
              <a:ext cx="11130742" cy="2700025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6042A196-4AFB-7A26-A26D-E1DD30B83177}"/>
                </a:ext>
              </a:extLst>
            </p:cNvPr>
            <p:cNvSpPr/>
            <p:nvPr/>
          </p:nvSpPr>
          <p:spPr>
            <a:xfrm>
              <a:off x="806335" y="1450439"/>
              <a:ext cx="2136370" cy="314784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dirty="0"/>
                <a:t>실습</a:t>
              </a: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5DADCE30-E64E-6843-68CA-39F56CC1A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033" y="2240536"/>
            <a:ext cx="7876581" cy="372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51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34AE2-7738-16F6-DF9B-48BA78F6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5629A14-431A-D98B-2703-72D54F2ADDD3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677B8"/>
                </a:solidFill>
              </a:defRPr>
            </a:pPr>
            <a:r>
              <a:rPr sz="1200" b="1" dirty="0">
                <a:solidFill>
                  <a:srgbClr val="1677B8"/>
                </a:solidFill>
              </a:rPr>
              <a:t>C# × MySQL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35129C-773E-3C81-249D-AAB3A3557463}"/>
              </a:ext>
            </a:extLst>
          </p:cNvPr>
          <p:cNvSpPr>
            <a:spLocks noGrp="1"/>
          </p:cNvSpPr>
          <p:nvPr/>
        </p:nvSpPr>
        <p:spPr>
          <a:xfrm>
            <a:off x="685800" y="63996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02A43"/>
                </a:solidFill>
              </a:defRPr>
            </a:pPr>
            <a:r>
              <a:rPr lang="en-US" sz="2850" b="1" dirty="0" err="1">
                <a:solidFill>
                  <a:srgbClr val="102A43"/>
                </a:solidFill>
              </a:rPr>
              <a:t>frmMain.cs</a:t>
            </a:r>
            <a:endParaRPr sz="2850" b="1" dirty="0">
              <a:solidFill>
                <a:srgbClr val="102A43"/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4804C13-7FE4-6C43-C14C-0199174D00D2}"/>
              </a:ext>
            </a:extLst>
          </p:cNvPr>
          <p:cNvGrpSpPr/>
          <p:nvPr/>
        </p:nvGrpSpPr>
        <p:grpSpPr>
          <a:xfrm>
            <a:off x="448887" y="1230285"/>
            <a:ext cx="11247119" cy="5380066"/>
            <a:chOff x="448888" y="1450439"/>
            <a:chExt cx="11130742" cy="2813991"/>
          </a:xfrm>
        </p:grpSpPr>
        <p:sp>
          <p:nvSpPr>
            <p:cNvPr id="3" name="모서리가 둥근 직사각형 2">
              <a:extLst>
                <a:ext uri="{FF2B5EF4-FFF2-40B4-BE49-F238E27FC236}">
                  <a16:creationId xmlns:a16="http://schemas.microsoft.com/office/drawing/2014/main" id="{6B9956D5-0A36-4CD5-DA23-7EA9B95524CD}"/>
                </a:ext>
              </a:extLst>
            </p:cNvPr>
            <p:cNvSpPr/>
            <p:nvPr/>
          </p:nvSpPr>
          <p:spPr>
            <a:xfrm>
              <a:off x="448888" y="1564405"/>
              <a:ext cx="11130742" cy="2700025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F3CE0DA0-D00D-C1AB-0FA8-1AA2B1608419}"/>
                </a:ext>
              </a:extLst>
            </p:cNvPr>
            <p:cNvSpPr/>
            <p:nvPr/>
          </p:nvSpPr>
          <p:spPr>
            <a:xfrm>
              <a:off x="806335" y="1450439"/>
              <a:ext cx="2136370" cy="314784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dirty="0"/>
                <a:t>실습</a:t>
              </a: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570EF356-FD74-881F-D9C1-268E386E4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622" y="1532498"/>
            <a:ext cx="6369417" cy="511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657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D8576-4F4A-7A9F-9861-E7B609C59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E6BD5BEA-F480-EEC3-EAD6-A20309DD6008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677B8"/>
                </a:solidFill>
              </a:defRPr>
            </a:pPr>
            <a:r>
              <a:rPr sz="1200" b="1" dirty="0">
                <a:solidFill>
                  <a:srgbClr val="1677B8"/>
                </a:solidFill>
              </a:rPr>
              <a:t>C# × MySQL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F5DE7C2-EB86-6222-CBAB-B7C31D266D01}"/>
              </a:ext>
            </a:extLst>
          </p:cNvPr>
          <p:cNvSpPr>
            <a:spLocks noGrp="1"/>
          </p:cNvSpPr>
          <p:nvPr/>
        </p:nvSpPr>
        <p:spPr>
          <a:xfrm>
            <a:off x="685800" y="63996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02A43"/>
                </a:solidFill>
              </a:defRPr>
            </a:pPr>
            <a:r>
              <a:rPr lang="en-US" sz="2850" b="1" dirty="0" err="1">
                <a:solidFill>
                  <a:srgbClr val="102A43"/>
                </a:solidFill>
              </a:rPr>
              <a:t>frmMain.cs</a:t>
            </a:r>
            <a:endParaRPr sz="2850" b="1" dirty="0">
              <a:solidFill>
                <a:srgbClr val="102A43"/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C8E3769-D35A-D450-C74E-17D840C147C6}"/>
              </a:ext>
            </a:extLst>
          </p:cNvPr>
          <p:cNvGrpSpPr/>
          <p:nvPr/>
        </p:nvGrpSpPr>
        <p:grpSpPr>
          <a:xfrm>
            <a:off x="448887" y="1230285"/>
            <a:ext cx="11247119" cy="5380066"/>
            <a:chOff x="448888" y="1450439"/>
            <a:chExt cx="11130742" cy="2813991"/>
          </a:xfrm>
        </p:grpSpPr>
        <p:sp>
          <p:nvSpPr>
            <p:cNvPr id="3" name="모서리가 둥근 직사각형 2">
              <a:extLst>
                <a:ext uri="{FF2B5EF4-FFF2-40B4-BE49-F238E27FC236}">
                  <a16:creationId xmlns:a16="http://schemas.microsoft.com/office/drawing/2014/main" id="{88847247-04F5-02C1-962B-F67EFB8C2ED9}"/>
                </a:ext>
              </a:extLst>
            </p:cNvPr>
            <p:cNvSpPr/>
            <p:nvPr/>
          </p:nvSpPr>
          <p:spPr>
            <a:xfrm>
              <a:off x="448888" y="1564405"/>
              <a:ext cx="11130742" cy="2700025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72000596-AFCA-244D-7E7C-0A8564BC6F4D}"/>
                </a:ext>
              </a:extLst>
            </p:cNvPr>
            <p:cNvSpPr/>
            <p:nvPr/>
          </p:nvSpPr>
          <p:spPr>
            <a:xfrm>
              <a:off x="806335" y="1450439"/>
              <a:ext cx="2136370" cy="314784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dirty="0"/>
                <a:t>실습</a:t>
              </a: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6F807F95-878B-4064-5058-49215E350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421" y="2318181"/>
            <a:ext cx="7884664" cy="342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43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C067-CD15-FE24-8105-070F23EA1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709C50D6-6C27-2EF7-25E9-D7D462C86FC5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677B8"/>
                </a:solidFill>
              </a:defRPr>
            </a:pPr>
            <a:r>
              <a:rPr sz="1200" b="1" dirty="0">
                <a:solidFill>
                  <a:srgbClr val="1677B8"/>
                </a:solidFill>
              </a:rPr>
              <a:t>C# × MySQL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569B752-56F4-FA49-EDD4-E5FF510F2802}"/>
              </a:ext>
            </a:extLst>
          </p:cNvPr>
          <p:cNvSpPr>
            <a:spLocks noGrp="1"/>
          </p:cNvSpPr>
          <p:nvPr/>
        </p:nvSpPr>
        <p:spPr>
          <a:xfrm>
            <a:off x="685800" y="63996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02A43"/>
                </a:solidFill>
              </a:defRPr>
            </a:pPr>
            <a:r>
              <a:rPr lang="en-US" sz="2850" b="1" dirty="0" err="1">
                <a:solidFill>
                  <a:srgbClr val="102A43"/>
                </a:solidFill>
              </a:rPr>
              <a:t>frmMain.cs</a:t>
            </a:r>
            <a:endParaRPr sz="2850" b="1" dirty="0">
              <a:solidFill>
                <a:srgbClr val="102A43"/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9EC7AAA-E1D5-77FF-B25C-3D9DE97528D9}"/>
              </a:ext>
            </a:extLst>
          </p:cNvPr>
          <p:cNvGrpSpPr/>
          <p:nvPr/>
        </p:nvGrpSpPr>
        <p:grpSpPr>
          <a:xfrm>
            <a:off x="448887" y="1230285"/>
            <a:ext cx="11247119" cy="5380066"/>
            <a:chOff x="448888" y="1450439"/>
            <a:chExt cx="11130742" cy="2813991"/>
          </a:xfrm>
        </p:grpSpPr>
        <p:sp>
          <p:nvSpPr>
            <p:cNvPr id="3" name="모서리가 둥근 직사각형 2">
              <a:extLst>
                <a:ext uri="{FF2B5EF4-FFF2-40B4-BE49-F238E27FC236}">
                  <a16:creationId xmlns:a16="http://schemas.microsoft.com/office/drawing/2014/main" id="{6CC1EC48-27D7-03DD-0036-E67AC9ABB2DE}"/>
                </a:ext>
              </a:extLst>
            </p:cNvPr>
            <p:cNvSpPr/>
            <p:nvPr/>
          </p:nvSpPr>
          <p:spPr>
            <a:xfrm>
              <a:off x="448888" y="1564405"/>
              <a:ext cx="11130742" cy="2700025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55EAE2D0-2937-2326-C82C-34BE12014B34}"/>
                </a:ext>
              </a:extLst>
            </p:cNvPr>
            <p:cNvSpPr/>
            <p:nvPr/>
          </p:nvSpPr>
          <p:spPr>
            <a:xfrm>
              <a:off x="806335" y="1450439"/>
              <a:ext cx="2136370" cy="314784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dirty="0"/>
                <a:t>실습</a:t>
              </a: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B3C5B465-D1BE-B8CD-6C21-6FC2E67ED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981" y="2025945"/>
            <a:ext cx="9718038" cy="419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884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27879-7C6C-9841-B956-A5A5BDF2D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1CF02062-63E2-A228-B063-0C0D3E22379E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677B8"/>
                </a:solidFill>
              </a:defRPr>
            </a:pPr>
            <a:r>
              <a:rPr sz="1200" b="1" dirty="0">
                <a:solidFill>
                  <a:srgbClr val="1677B8"/>
                </a:solidFill>
              </a:rPr>
              <a:t>C# × MySQL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1FB3104-E4ED-4CC4-EC4A-B73F805D34A2}"/>
              </a:ext>
            </a:extLst>
          </p:cNvPr>
          <p:cNvSpPr>
            <a:spLocks noGrp="1"/>
          </p:cNvSpPr>
          <p:nvPr/>
        </p:nvSpPr>
        <p:spPr>
          <a:xfrm>
            <a:off x="685800" y="63996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02A43"/>
                </a:solidFill>
              </a:defRPr>
            </a:pPr>
            <a:r>
              <a:rPr lang="en-US" sz="2850" b="1" dirty="0" err="1">
                <a:solidFill>
                  <a:srgbClr val="102A43"/>
                </a:solidFill>
              </a:rPr>
              <a:t>frmMain.cs</a:t>
            </a:r>
            <a:endParaRPr sz="2850" b="1" dirty="0">
              <a:solidFill>
                <a:srgbClr val="102A43"/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B5DB207-B5DF-ED52-4EA9-5DB48C1B5FEE}"/>
              </a:ext>
            </a:extLst>
          </p:cNvPr>
          <p:cNvGrpSpPr/>
          <p:nvPr/>
        </p:nvGrpSpPr>
        <p:grpSpPr>
          <a:xfrm>
            <a:off x="448887" y="1230285"/>
            <a:ext cx="11247119" cy="5380066"/>
            <a:chOff x="448888" y="1450439"/>
            <a:chExt cx="11130742" cy="2813991"/>
          </a:xfrm>
        </p:grpSpPr>
        <p:sp>
          <p:nvSpPr>
            <p:cNvPr id="3" name="모서리가 둥근 직사각형 2">
              <a:extLst>
                <a:ext uri="{FF2B5EF4-FFF2-40B4-BE49-F238E27FC236}">
                  <a16:creationId xmlns:a16="http://schemas.microsoft.com/office/drawing/2014/main" id="{96C345A6-0A0C-53FC-3D3A-B7EB07A7957F}"/>
                </a:ext>
              </a:extLst>
            </p:cNvPr>
            <p:cNvSpPr/>
            <p:nvPr/>
          </p:nvSpPr>
          <p:spPr>
            <a:xfrm>
              <a:off x="448888" y="1564405"/>
              <a:ext cx="11130742" cy="2700025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A0145578-6074-DAA8-E096-E1238AEC314B}"/>
                </a:ext>
              </a:extLst>
            </p:cNvPr>
            <p:cNvSpPr/>
            <p:nvPr/>
          </p:nvSpPr>
          <p:spPr>
            <a:xfrm>
              <a:off x="806335" y="1450439"/>
              <a:ext cx="2136370" cy="314784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dirty="0"/>
                <a:t>실습</a:t>
              </a: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1FF92008-0901-7E83-5BB8-2AE30F301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772" y="1973586"/>
            <a:ext cx="10318456" cy="429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25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B667B-41C4-2144-F741-05CE1AEE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0ECF8FBE-1DCB-CC8F-EA31-4F848CABB98C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677B8"/>
                </a:solidFill>
              </a:defRPr>
            </a:pPr>
            <a:r>
              <a:rPr sz="1200" b="1" dirty="0">
                <a:solidFill>
                  <a:srgbClr val="1677B8"/>
                </a:solidFill>
              </a:rPr>
              <a:t>C# × MySQL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2954A03-335A-59E5-B893-B7D8186B7530}"/>
              </a:ext>
            </a:extLst>
          </p:cNvPr>
          <p:cNvSpPr>
            <a:spLocks noGrp="1"/>
          </p:cNvSpPr>
          <p:nvPr/>
        </p:nvSpPr>
        <p:spPr>
          <a:xfrm>
            <a:off x="685800" y="63996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02A43"/>
                </a:solidFill>
              </a:defRPr>
            </a:pPr>
            <a:r>
              <a:rPr lang="en-US" sz="2850" b="1" dirty="0" err="1">
                <a:solidFill>
                  <a:srgbClr val="102A43"/>
                </a:solidFill>
              </a:rPr>
              <a:t>frmMain.cs</a:t>
            </a:r>
            <a:endParaRPr sz="2850" b="1" dirty="0">
              <a:solidFill>
                <a:srgbClr val="102A43"/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B4F7331-18BF-7D81-DB51-6071887B1AD7}"/>
              </a:ext>
            </a:extLst>
          </p:cNvPr>
          <p:cNvGrpSpPr/>
          <p:nvPr/>
        </p:nvGrpSpPr>
        <p:grpSpPr>
          <a:xfrm>
            <a:off x="448887" y="1230285"/>
            <a:ext cx="11247119" cy="5380066"/>
            <a:chOff x="448888" y="1450439"/>
            <a:chExt cx="11130742" cy="2813991"/>
          </a:xfrm>
        </p:grpSpPr>
        <p:sp>
          <p:nvSpPr>
            <p:cNvPr id="3" name="모서리가 둥근 직사각형 2">
              <a:extLst>
                <a:ext uri="{FF2B5EF4-FFF2-40B4-BE49-F238E27FC236}">
                  <a16:creationId xmlns:a16="http://schemas.microsoft.com/office/drawing/2014/main" id="{A7E04A10-5C4A-C054-3D74-2166CC5B00EF}"/>
                </a:ext>
              </a:extLst>
            </p:cNvPr>
            <p:cNvSpPr/>
            <p:nvPr/>
          </p:nvSpPr>
          <p:spPr>
            <a:xfrm>
              <a:off x="448888" y="1564405"/>
              <a:ext cx="11130742" cy="2700025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C077F490-546D-0E1B-566D-CC8CB486F7E5}"/>
                </a:ext>
              </a:extLst>
            </p:cNvPr>
            <p:cNvSpPr/>
            <p:nvPr/>
          </p:nvSpPr>
          <p:spPr>
            <a:xfrm>
              <a:off x="806335" y="1450439"/>
              <a:ext cx="2136370" cy="314784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dirty="0"/>
                <a:t>실습</a:t>
              </a: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43D6DDF6-AE6C-4ADA-56BF-6D181B083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778" y="1612215"/>
            <a:ext cx="6830872" cy="494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40018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{BAFF75D9-73EB-0A4F-933D-8B602817AADA}tf10001063</Template>
  <TotalTime>2318</TotalTime>
  <Words>183</Words>
  <Application>Microsoft Macintosh PowerPoint</Application>
  <DocSecurity>0</DocSecurity>
  <PresentationFormat>와이드스크린</PresentationFormat>
  <Paragraphs>44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NanumGothic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Sangmin Hong</cp:lastModifiedBy>
  <cp:revision>338</cp:revision>
  <dcterms:created xsi:type="dcterms:W3CDTF">2026-07-18T07:08:28Z</dcterms:created>
  <dcterms:modified xsi:type="dcterms:W3CDTF">2026-07-27T08:37:53Z</dcterms:modified>
</cp:coreProperties>
</file>